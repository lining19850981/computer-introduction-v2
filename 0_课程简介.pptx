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377" r:id="rId3"/>
    <p:sldId id="379" r:id="rId5"/>
    <p:sldId id="381" r:id="rId6"/>
    <p:sldId id="380" r:id="rId7"/>
    <p:sldId id="382" r:id="rId8"/>
    <p:sldId id="386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35" autoAdjust="0"/>
    <p:restoredTop sz="49468" autoAdjust="0"/>
  </p:normalViewPr>
  <p:slideViewPr>
    <p:cSldViewPr snapToGrid="0" showGuides="1">
      <p:cViewPr varScale="1">
        <p:scale>
          <a:sx n="54" d="100"/>
          <a:sy n="54" d="100"/>
        </p:scale>
        <p:origin x="2212" y="52"/>
      </p:cViewPr>
      <p:guideLst>
        <p:guide orient="horz" pos="217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2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74139-2EE6-44A1-9A65-8A6AF468A7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B2203-D4CF-48AB-8EF6-54195B96953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现在开始，请大家跟我一起学习</a:t>
            </a:r>
            <a:r>
              <a:rPr lang="en-US" altLang="zh-CN"/>
              <a:t>“</a:t>
            </a:r>
            <a:r>
              <a:rPr lang="zh-CN" altLang="en-US"/>
              <a:t>计算机导论</a:t>
            </a:r>
            <a:r>
              <a:rPr lang="en-US" altLang="zh-CN"/>
              <a:t>”</a:t>
            </a:r>
            <a:r>
              <a:rPr lang="zh-CN" altLang="en-US"/>
              <a:t>课。</a:t>
            </a:r>
            <a:endParaRPr lang="zh-CN" altLang="en-US"/>
          </a:p>
          <a:p>
            <a:r>
              <a:rPr lang="zh-CN" altLang="en-US"/>
              <a:t>先跟大家讲讲这门课程的地位和作用。</a:t>
            </a:r>
            <a:endParaRPr lang="zh-CN" altLang="en-US"/>
          </a:p>
          <a:p>
            <a:r>
              <a:rPr lang="zh-CN" altLang="en-US"/>
              <a:t>本课程是计算机相关专业的专业基础课，其作用是专业导学，培养学生“知识、能力、素质、方法、思维、职业”六个维度的专业认知，为后续专业课程的学习以及自身的综合素质的养成打下基础。</a:t>
            </a:r>
            <a:endParaRPr lang="zh-CN" altLang="en-US"/>
          </a:p>
          <a:p>
            <a:r>
              <a:rPr lang="zh-CN" altLang="en-US"/>
              <a:t>这门课程的目标有三个，即：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）能够系统化、概括性地解释计算机工作的基本原理；理解计算机科学相关的基本知识和思维方法，形成初步的专业认知。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）能够综合计算机发展的历程，分析计算机发展对环境等的影响，具有可持续发展意识。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）能够分析计算机专业对社会、安全、环境、法律、文化等方面的影响，具有职业素质和社会责任感。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大家学习这门课时，希望能够做到：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课内和课外结合，注意听讲、</a:t>
            </a:r>
            <a:r>
              <a:rPr lang="zh-CN" altLang="en-US">
                <a:sym typeface="+mn-ea"/>
              </a:rPr>
              <a:t>阅读和观察；</a:t>
            </a:r>
            <a:endParaRPr lang="zh-CN" altLang="en-US"/>
          </a:p>
          <a:p>
            <a:r>
              <a:rPr lang="zh-CN" altLang="en-US">
                <a:sym typeface="+mn-ea"/>
              </a:rPr>
              <a:t>学习和思考结合，注意做好笔记，善于表达自己的观点；</a:t>
            </a:r>
            <a:endParaRPr lang="zh-CN" altLang="en-US"/>
          </a:p>
          <a:p>
            <a:r>
              <a:rPr lang="zh-CN" altLang="en-US">
                <a:sym typeface="+mn-ea"/>
              </a:rPr>
              <a:t>理论和实践结合，注意编程训练，提高动手能力；</a:t>
            </a:r>
            <a:endParaRPr lang="zh-CN" altLang="en-US"/>
          </a:p>
          <a:p>
            <a:r>
              <a:rPr lang="zh-CN" altLang="en-US">
                <a:sym typeface="+mn-ea"/>
              </a:rPr>
              <a:t>温故和知新结合，注意复习和预习，快速掌握知识。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这里的教材与参考书可供大家学习。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我们的课程一共有</a:t>
            </a:r>
            <a:r>
              <a:rPr lang="en-US" altLang="zh-CN"/>
              <a:t>32</a:t>
            </a:r>
            <a:r>
              <a:rPr lang="zh-CN" altLang="en-US"/>
              <a:t>个学时，其中理论部分有</a:t>
            </a:r>
            <a:r>
              <a:rPr lang="en-US" altLang="zh-CN"/>
              <a:t>27</a:t>
            </a:r>
            <a:r>
              <a:rPr lang="zh-CN" altLang="en-US"/>
              <a:t>个学时，实践部分有</a:t>
            </a:r>
            <a:r>
              <a:rPr lang="en-US" altLang="zh-CN"/>
              <a:t>5</a:t>
            </a:r>
            <a:r>
              <a:rPr lang="zh-CN" altLang="en-US"/>
              <a:t>个学时。</a:t>
            </a:r>
            <a:endParaRPr lang="zh-CN" altLang="en-US"/>
          </a:p>
          <a:p>
            <a:r>
              <a:rPr lang="zh-CN" altLang="en-US"/>
              <a:t>理论部分共有</a:t>
            </a:r>
            <a:r>
              <a:rPr lang="en-US" altLang="zh-CN"/>
              <a:t>8</a:t>
            </a:r>
            <a:r>
              <a:rPr lang="zh-CN" altLang="en-US"/>
              <a:t>章，实践部分共有</a:t>
            </a:r>
            <a:r>
              <a:rPr lang="en-US" altLang="zh-CN"/>
              <a:t>2</a:t>
            </a:r>
            <a:r>
              <a:rPr lang="zh-CN" altLang="en-US"/>
              <a:t>项内容，具体请看这张表。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下面就让我们一起开始学习吧。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02664"/>
            <a:ext cx="10363200" cy="1152613"/>
          </a:xfrm>
        </p:spPr>
        <p:txBody>
          <a:bodyPr/>
          <a:lstStyle>
            <a:lvl1pPr algn="ctr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zh-CN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818878"/>
            <a:ext cx="9347200" cy="1070113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0" y="23813"/>
            <a:ext cx="5076236" cy="133593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1566" y="5967373"/>
            <a:ext cx="2254006" cy="396043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rgbClr val="002060"/>
                </a:solidFill>
              </a:defRPr>
            </a:lvl1pPr>
            <a:lvl2pPr>
              <a:defRPr baseline="0">
                <a:solidFill>
                  <a:srgbClr val="002060"/>
                </a:solidFill>
              </a:defRPr>
            </a:lvl2pPr>
            <a:lvl3pPr>
              <a:defRPr baseline="0">
                <a:solidFill>
                  <a:srgbClr val="002060"/>
                </a:solidFill>
              </a:defRPr>
            </a:lvl3pPr>
            <a:lvl4pPr>
              <a:defRPr baseline="0">
                <a:solidFill>
                  <a:srgbClr val="002060"/>
                </a:solidFill>
              </a:defRPr>
            </a:lvl4pPr>
            <a:lvl5pPr>
              <a:defRPr baseline="0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FF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1" y="304800"/>
            <a:ext cx="2936437" cy="3869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7" y="304800"/>
            <a:ext cx="2669116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07" y="6210771"/>
            <a:ext cx="2068444" cy="272579"/>
          </a:xfrm>
          <a:prstGeom prst="rect">
            <a:avLst/>
          </a:prstGeom>
        </p:spPr>
      </p:pic>
    </p:spTree>
  </p:cSld>
  <p:clrMapOvr>
    <a:masterClrMapping/>
  </p:clrMapOvr>
  <p:transition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0"/>
            <a:ext cx="10668000" cy="1216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  <a:p>
            <a:pPr lvl="2"/>
            <a:r>
              <a:rPr lang="zh-CN" dirty="0"/>
              <a:t>第三级</a:t>
            </a:r>
            <a:endParaRPr lang="zh-CN" dirty="0"/>
          </a:p>
          <a:p>
            <a:pPr lvl="3"/>
            <a:r>
              <a:rPr lang="zh-CN" dirty="0"/>
              <a:t>第四级</a:t>
            </a:r>
            <a:endParaRPr lang="zh-CN" dirty="0"/>
          </a:p>
          <a:p>
            <a:pPr lvl="4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3"/>
            <a:ext cx="10610851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0 w 1000"/>
              <a:gd name="T3" fmla="*/ 0 h 1000"/>
              <a:gd name="T4" fmla="*/ 0 w 1000"/>
              <a:gd name="T5" fmla="*/ 0 h 1000"/>
              <a:gd name="T6" fmla="*/ 0 w 1000"/>
              <a:gd name="T7" fmla="*/ 0 h 1000"/>
              <a:gd name="T8" fmla="*/ 0 w 1000"/>
              <a:gd name="T9" fmla="*/ 0 h 1000"/>
              <a:gd name="T10" fmla="*/ 0 w 1000"/>
              <a:gd name="T11" fmla="*/ 0 h 1000"/>
              <a:gd name="T12" fmla="*/ 3163 w 1000"/>
              <a:gd name="T13" fmla="*/ 3163 h 1000"/>
              <a:gd name="T14" fmla="*/ 18437 w 1000"/>
              <a:gd name="T15" fmla="*/ 18437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mpd="sng">
            <a:solidFill>
              <a:schemeClr val="accent2"/>
            </a:solidFill>
            <a:miter lim="800000"/>
          </a:ln>
          <a:effectLst/>
        </p:spPr>
        <p:txBody>
          <a:bodyPr/>
          <a:lstStyle/>
          <a:p>
            <a:endParaRPr lang="en-US">
              <a:ea typeface="宋体" panose="02010600030101010101" pitchFamily="2" charset="-122"/>
            </a:endParaRP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812800" y="6172200"/>
            <a:ext cx="10566400" cy="0"/>
          </a:xfrm>
          <a:prstGeom prst="line">
            <a:avLst/>
          </a:prstGeom>
          <a:noFill/>
          <a:ln w="3175" cmpd="sng">
            <a:solidFill>
              <a:schemeClr val="accent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+mn-lt"/>
                <a:ea typeface="+mn-ea"/>
              </a:defRPr>
            </a:lvl1pPr>
          </a:lstStyle>
          <a:p>
            <a:fld id="{E9420B6A-C557-4AB5-AC2B-130A82A756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+mn-lt"/>
                <a:ea typeface="+mn-ea"/>
              </a:defRPr>
            </a:lvl1pPr>
          </a:lstStyle>
          <a:p>
            <a:fld id="{AF024E67-F1D9-49E4-9750-8ABF3067320A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49" y="4912883"/>
            <a:ext cx="12192000" cy="19451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13" y="166345"/>
            <a:ext cx="3397143" cy="5969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525" y="6202892"/>
            <a:ext cx="1819275" cy="3196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buSzPct val="100000"/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o"/>
        <a:defRPr sz="3000">
          <a:solidFill>
            <a:srgbClr val="002060"/>
          </a:solidFill>
          <a:latin typeface="+mn-lt"/>
          <a:ea typeface="+mn-ea"/>
          <a:cs typeface="+mn-cs"/>
        </a:defRPr>
      </a:lvl1pPr>
      <a:lvl2pPr marL="906780" indent="-43688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n"/>
        <a:defRPr sz="2600">
          <a:solidFill>
            <a:srgbClr val="002060"/>
          </a:solidFill>
          <a:latin typeface="+mn-lt"/>
          <a:ea typeface="+mn-ea"/>
        </a:defRPr>
      </a:lvl2pPr>
      <a:lvl3pPr marL="1303655" indent="-39560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o"/>
        <a:defRPr sz="2300">
          <a:solidFill>
            <a:srgbClr val="002060"/>
          </a:solidFill>
          <a:latin typeface="+mn-lt"/>
          <a:ea typeface="+mn-ea"/>
        </a:defRPr>
      </a:lvl3pPr>
      <a:lvl4pPr marL="1692275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n"/>
        <a:defRPr sz="2000">
          <a:solidFill>
            <a:srgbClr val="002060"/>
          </a:solidFill>
          <a:latin typeface="+mn-lt"/>
          <a:ea typeface="+mn-ea"/>
        </a:defRPr>
      </a:lvl4pPr>
      <a:lvl5pPr marL="2092325" indent="-396875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2000">
          <a:solidFill>
            <a:srgbClr val="002060"/>
          </a:solidFill>
          <a:latin typeface="+mn-lt"/>
          <a:ea typeface="+mn-ea"/>
        </a:defRPr>
      </a:lvl5pPr>
      <a:lvl6pPr marL="2549525" indent="-396875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6725" indent="-396875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3925" indent="-396875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1125" indent="-396875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 noChangeArrowheads="1"/>
          </p:cNvSpPr>
          <p:nvPr>
            <p:ph type="ctrTitle"/>
          </p:nvPr>
        </p:nvSpPr>
        <p:spPr>
          <a:xfrm>
            <a:off x="914400" y="1502410"/>
            <a:ext cx="7216140" cy="1152525"/>
          </a:xfrm>
        </p:spPr>
        <p:txBody>
          <a:bodyPr/>
          <a:p>
            <a:r>
              <a:rPr lang="en-US" altLang="zh-CN" sz="4400" b="1"/>
              <a:t>“</a:t>
            </a:r>
            <a:r>
              <a:rPr lang="zh-CN" altLang="en-US" sz="4400" b="1"/>
              <a:t>计算机导论</a:t>
            </a:r>
            <a:r>
              <a:rPr lang="en-US" altLang="zh-CN" sz="4400" b="1"/>
              <a:t>”</a:t>
            </a:r>
            <a:r>
              <a:rPr lang="zh-CN" altLang="en-US" sz="4400" b="1"/>
              <a:t>课程简介</a:t>
            </a:r>
            <a:endParaRPr lang="zh-CN" altLang="en-US" sz="4400" b="1"/>
          </a:p>
        </p:txBody>
      </p:sp>
      <p:sp>
        <p:nvSpPr>
          <p:cNvPr id="3" name="副标题 2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818890"/>
            <a:ext cx="6708140" cy="1794510"/>
          </a:xfrm>
        </p:spPr>
        <p:txBody>
          <a:bodyPr/>
          <a:p>
            <a:pPr algn="ctr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</a:pPr>
            <a:r>
              <a:rPr lang="zh-CN" altLang="en-US" sz="2400"/>
              <a:t>北京信息科技大学</a:t>
            </a:r>
            <a:r>
              <a:rPr lang="zh-CN" altLang="en-US" sz="2400"/>
              <a:t>计算机学院</a:t>
            </a:r>
            <a:endParaRPr lang="zh-CN" altLang="en-US" sz="2400"/>
          </a:p>
          <a:p>
            <a:pPr algn="ctr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</a:pPr>
            <a:r>
              <a:rPr lang="zh-CN" altLang="en-US" sz="2400">
                <a:sym typeface="+mn-ea"/>
              </a:rPr>
              <a:t>李</a:t>
            </a:r>
            <a:r>
              <a:rPr lang="zh-CN" altLang="en-US" sz="2400">
                <a:sym typeface="+mn-ea"/>
              </a:rPr>
              <a:t>宁</a:t>
            </a:r>
            <a:endParaRPr lang="zh-CN" altLang="en-US" sz="2400">
              <a:sym typeface="+mn-ea"/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400">
                <a:sym typeface="+mn-ea"/>
              </a:rPr>
              <a:t>2026.1</a:t>
            </a:r>
            <a:endParaRPr lang="zh-CN" altLang="en-US" sz="2400"/>
          </a:p>
          <a:p>
            <a:pPr algn="l"/>
            <a:endParaRPr lang="zh-CN" altLang="en-US" sz="2400"/>
          </a:p>
          <a:p>
            <a:pPr algn="ctr"/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685" y="1619885"/>
            <a:ext cx="2714625" cy="3648710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课程简介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课程的地位和作用</a:t>
            </a:r>
            <a:endParaRPr lang="zh-CN" altLang="en-US" sz="2400"/>
          </a:p>
          <a:p>
            <a:pPr lvl="1"/>
            <a:r>
              <a:rPr lang="zh-CN" altLang="en-US" sz="2000"/>
              <a:t>本课程是计算机相关专业的专业基础课，其作用是专业导学，培养学生“知识、能力、素质、方法、思维、职业”六个维度的专业认知，为后续专业课程的学习以及自身的综合素质的养成打下基础。</a:t>
            </a:r>
            <a:endParaRPr lang="zh-CN" altLang="en-US" sz="2000"/>
          </a:p>
          <a:p>
            <a:r>
              <a:rPr lang="zh-CN" altLang="en-US" sz="2400"/>
              <a:t>课程目标</a:t>
            </a:r>
            <a:endParaRPr lang="zh-CN" altLang="en-US" sz="2400"/>
          </a:p>
          <a:p>
            <a:pPr lvl="1"/>
            <a:r>
              <a:rPr lang="zh-CN" altLang="en-US" sz="2000"/>
              <a:t>能够系统化、概括性地解释计算机工作的基本原理；理解计算机科学相关的基本知识和思维方法，形成初步的专业认知。</a:t>
            </a:r>
            <a:endParaRPr lang="zh-CN" altLang="en-US" sz="2000"/>
          </a:p>
          <a:p>
            <a:pPr lvl="1"/>
            <a:r>
              <a:rPr lang="zh-CN" altLang="en-US" sz="2000"/>
              <a:t>能够综合计算机发展的历程，分析计算机发展对环境等的影响，具有可持续发展意识。</a:t>
            </a:r>
            <a:endParaRPr lang="zh-CN" altLang="en-US" sz="2000"/>
          </a:p>
          <a:p>
            <a:pPr lvl="1"/>
            <a:r>
              <a:rPr lang="zh-CN" altLang="en-US" sz="2000"/>
              <a:t>能够分析计算机专业对社会、安全、环境、法律、文化等方面的影响，具有职业素质和社会责任感。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学习方法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课内</a:t>
            </a:r>
            <a:r>
              <a:rPr lang="en-US" altLang="zh-CN"/>
              <a:t>+</a:t>
            </a:r>
            <a:r>
              <a:rPr lang="zh-CN" altLang="en-US"/>
              <a:t>课外</a:t>
            </a:r>
            <a:endParaRPr lang="zh-CN" altLang="en-US"/>
          </a:p>
          <a:p>
            <a:pPr lvl="1"/>
            <a:r>
              <a:rPr lang="zh-CN" altLang="en-US"/>
              <a:t>听讲、</a:t>
            </a:r>
            <a:r>
              <a:rPr lang="zh-CN" altLang="en-US">
                <a:sym typeface="+mn-ea"/>
              </a:rPr>
              <a:t>阅读、</a:t>
            </a:r>
            <a:r>
              <a:rPr lang="zh-CN" altLang="en-US">
                <a:sym typeface="+mn-ea"/>
              </a:rPr>
              <a:t>观察</a:t>
            </a:r>
            <a:endParaRPr lang="zh-CN" altLang="en-US"/>
          </a:p>
          <a:p>
            <a:r>
              <a:rPr lang="zh-CN" altLang="en-US"/>
              <a:t>学习</a:t>
            </a:r>
            <a:r>
              <a:rPr lang="en-US" altLang="zh-CN"/>
              <a:t>+</a:t>
            </a:r>
            <a:r>
              <a:rPr lang="zh-CN" altLang="en-US"/>
              <a:t>思考</a:t>
            </a:r>
            <a:endParaRPr lang="zh-CN" altLang="en-US"/>
          </a:p>
          <a:p>
            <a:pPr lvl="1"/>
            <a:r>
              <a:rPr lang="zh-CN" altLang="en-US"/>
              <a:t>笔记、表达</a:t>
            </a:r>
            <a:endParaRPr lang="zh-CN" altLang="en-US"/>
          </a:p>
          <a:p>
            <a:r>
              <a:rPr lang="zh-CN" altLang="en-US"/>
              <a:t>理论</a:t>
            </a:r>
            <a:r>
              <a:rPr lang="en-US" altLang="zh-CN"/>
              <a:t>+</a:t>
            </a:r>
            <a:r>
              <a:rPr lang="zh-CN" altLang="en-US"/>
              <a:t>实践</a:t>
            </a:r>
            <a:endParaRPr lang="zh-CN" altLang="en-US"/>
          </a:p>
          <a:p>
            <a:pPr lvl="1"/>
            <a:r>
              <a:rPr lang="zh-CN" altLang="en-US"/>
              <a:t>结合编程与学科竞赛</a:t>
            </a:r>
            <a:endParaRPr lang="zh-CN" altLang="en-US"/>
          </a:p>
          <a:p>
            <a:r>
              <a:rPr lang="zh-CN" altLang="en-US"/>
              <a:t>温故</a:t>
            </a:r>
            <a:r>
              <a:rPr lang="en-US" altLang="zh-CN"/>
              <a:t>+</a:t>
            </a:r>
            <a:r>
              <a:rPr lang="zh-CN" altLang="en-US"/>
              <a:t>知新</a:t>
            </a:r>
            <a:endParaRPr lang="zh-CN" altLang="en-US"/>
          </a:p>
          <a:p>
            <a:pPr lvl="1"/>
            <a:r>
              <a:rPr lang="zh-CN" altLang="en-US"/>
              <a:t>快速吸收更新知识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3" grpId="0" build="p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教材与参考书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教材：</a:t>
            </a:r>
            <a:endParaRPr lang="zh-CN" altLang="en-US" sz="2400"/>
          </a:p>
          <a:p>
            <a:pPr lvl="1"/>
            <a:r>
              <a:rPr lang="zh-CN" altLang="en-US" sz="2000"/>
              <a:t>李宁.计算机导论.清华大学出版社.202</a:t>
            </a:r>
            <a:r>
              <a:rPr lang="en-US" altLang="zh-CN" sz="2000"/>
              <a:t>6</a:t>
            </a:r>
            <a:endParaRPr lang="zh-CN" altLang="en-US" sz="2000"/>
          </a:p>
          <a:p>
            <a:r>
              <a:rPr lang="zh-CN" altLang="en-US" sz="2400"/>
              <a:t>参考书：</a:t>
            </a:r>
            <a:endParaRPr lang="zh-CN" altLang="en-US" sz="2400"/>
          </a:p>
          <a:p>
            <a:pPr lvl="1"/>
            <a:r>
              <a:rPr lang="zh-CN" altLang="en-US" sz="2000"/>
              <a:t>（美）帕森斯.计算机文化（原书第20版）.机械工业出版社.2019.5.</a:t>
            </a:r>
            <a:endParaRPr lang="zh-CN" altLang="en-US" sz="2000"/>
          </a:p>
          <a:p>
            <a:pPr lvl="1"/>
            <a:r>
              <a:rPr lang="zh-CN" altLang="en-US" sz="2000"/>
              <a:t>ParsonsJJ，NewPerspectivesonComputerConcepts2018:Comprehensive(Ver.20)，CourseTechnology，2018.</a:t>
            </a:r>
            <a:endParaRPr lang="zh-CN" altLang="en-US" sz="2000"/>
          </a:p>
          <a:p>
            <a:pPr lvl="1"/>
            <a:r>
              <a:rPr lang="zh-CN" altLang="en-US" sz="2000"/>
              <a:t>吴军.浪潮之巅.人民邮电出版社.2019.7.</a:t>
            </a:r>
            <a:endParaRPr lang="zh-CN" altLang="en-US" sz="2000"/>
          </a:p>
          <a:p>
            <a:pPr lvl="1"/>
            <a:r>
              <a:rPr lang="zh-CN" altLang="en-US" sz="2000"/>
              <a:t>徐志伟.计算机科学导论.清华大学出版社.2018.3.</a:t>
            </a:r>
            <a:endParaRPr lang="zh-CN" altLang="en-US" sz="2000"/>
          </a:p>
          <a:p>
            <a:pPr lvl="0"/>
            <a:r>
              <a:rPr lang="zh-CN" altLang="en-US" sz="2305"/>
              <a:t>知识库：</a:t>
            </a:r>
            <a:endParaRPr lang="zh-CN" altLang="en-US" sz="2305"/>
          </a:p>
          <a:p>
            <a:pPr lvl="1"/>
            <a:r>
              <a:rPr lang="zh-CN" altLang="en-US" sz="1995"/>
              <a:t>百度百科、</a:t>
            </a:r>
            <a:r>
              <a:rPr lang="en-US" altLang="zh-CN" sz="1995"/>
              <a:t>WWW</a:t>
            </a:r>
            <a:endParaRPr lang="en-US" altLang="zh-CN" sz="1995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3" grpId="0" build="p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课程安排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809875" y="1934210"/>
          <a:ext cx="667829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715"/>
                <a:gridCol w="4384040"/>
                <a:gridCol w="1145540"/>
              </a:tblGrid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类别</a:t>
                      </a:r>
                      <a:endParaRPr lang="zh-CN" altLang="en-US" sz="1600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内容</a:t>
                      </a:r>
                      <a:endParaRPr lang="zh-CN" altLang="en-US" sz="1600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学时</a:t>
                      </a:r>
                      <a:endParaRPr lang="zh-CN" altLang="en-US" sz="1600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0000">
                <a:tc rowSpan="8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理论</a:t>
                      </a:r>
                      <a:endParaRPr lang="zh-CN" altLang="en-US" sz="1600"/>
                    </a:p>
                    <a:p>
                      <a:pPr algn="ctr">
                        <a:buNone/>
                      </a:pPr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27</a:t>
                      </a:r>
                      <a:r>
                        <a:rPr lang="zh-CN" altLang="en-US" sz="1600"/>
                        <a:t>学时）</a:t>
                      </a:r>
                      <a:endParaRPr lang="zh-CN" altLang="en-US" sz="1600"/>
                    </a:p>
                  </a:txBody>
                  <a:tcPr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第1章计算机如何工作</a:t>
                      </a:r>
                      <a:endParaRPr lang="zh-CN" altLang="en-US" sz="1600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360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第2章计算机如何记算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</a:tr>
              <a:tr h="360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第3章如何让计算机具有智慧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</a:tr>
              <a:tr h="360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地</a:t>
                      </a:r>
                      <a:r>
                        <a:rPr lang="en-US" altLang="zh-CN" sz="1600"/>
                        <a:t>4</a:t>
                      </a:r>
                      <a:r>
                        <a:rPr lang="zh-CN" altLang="en-US" sz="1600"/>
                        <a:t>章</a:t>
                      </a:r>
                      <a:r>
                        <a:rPr lang="en-US" altLang="zh-CN" sz="1600"/>
                        <a:t>人工智能神奇在哪里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</a:tr>
              <a:tr h="360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第</a:t>
                      </a:r>
                      <a:r>
                        <a:rPr lang="en-US" altLang="zh-CN" sz="1600"/>
                        <a:t>5</a:t>
                      </a:r>
                      <a:r>
                        <a:rPr lang="zh-CN" altLang="en-US" sz="1600"/>
                        <a:t>章计算机如何改变外部世界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</a:tr>
              <a:tr h="360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第</a:t>
                      </a:r>
                      <a:r>
                        <a:rPr lang="en-US" altLang="zh-CN" sz="1600"/>
                        <a:t>6</a:t>
                      </a:r>
                      <a:r>
                        <a:rPr lang="zh-CN" altLang="en-US" sz="1600"/>
                        <a:t>章计算机如何通信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/>
                </a:tc>
              </a:tr>
              <a:tr h="360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第</a:t>
                      </a:r>
                      <a:r>
                        <a:rPr lang="en-US" altLang="zh-CN" sz="1600"/>
                        <a:t>7</a:t>
                      </a:r>
                      <a:r>
                        <a:rPr lang="zh-CN" altLang="en-US" sz="1600"/>
                        <a:t>章计算机如何创造虚拟时空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</a:tr>
              <a:tr h="360000">
                <a:tc vMerge="1"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第</a:t>
                      </a:r>
                      <a:r>
                        <a:rPr lang="en-US" altLang="zh-CN" sz="1600"/>
                        <a:t>8</a:t>
                      </a:r>
                      <a:r>
                        <a:rPr lang="zh-CN" altLang="en-US" sz="1600"/>
                        <a:t>章计算机如何从过去走向未来</a:t>
                      </a:r>
                      <a:endParaRPr lang="zh-CN" altLang="en-US" sz="1600"/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000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实践</a:t>
                      </a:r>
                      <a:endParaRPr lang="zh-CN" altLang="en-US" sz="1600"/>
                    </a:p>
                    <a:p>
                      <a:pPr algn="ctr">
                        <a:buNone/>
                      </a:pPr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5</a:t>
                      </a:r>
                      <a:r>
                        <a:rPr lang="zh-CN" altLang="en-US" sz="1600"/>
                        <a:t>学时）</a:t>
                      </a:r>
                      <a:endParaRPr lang="zh-CN" altLang="en-US" sz="1600"/>
                    </a:p>
                  </a:txBody>
                  <a:tcPr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计算机组装实验</a:t>
                      </a:r>
                      <a:endParaRPr lang="zh-CN" altLang="en-US" sz="1600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360000">
                <a:tc vMerge="1"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企业参观</a:t>
                      </a:r>
                      <a:endParaRPr lang="zh-CN" altLang="en-US" sz="1600"/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4178935" y="1894840"/>
            <a:ext cx="3834130" cy="3524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525*368"/>
  <p:tag name="TABLE_ENDDRAG_RECT" val="108*152*525*368"/>
</p:tagLst>
</file>

<file path=ppt/tags/tag2.xml><?xml version="1.0" encoding="utf-8"?>
<p:tagLst xmlns:p="http://schemas.openxmlformats.org/presentationml/2006/main">
  <p:tag name="COMMONDATA" val="eyJoZGlkIjoiN2E4Y2I5ZTdhMGViYTAyZGQ1MGM3NDA2NmU5ZWU2NTEifQ=="/>
  <p:tag name="KSO_WPP_MARK_KEY" val="0450f619-b26b-4f24-81d5-37ac80fbf2f8"/>
  <p:tag name="commondata" val="eyJoZGlkIjoiYzVhYzdkNzM0MzhhMTlkZGYxMzlmYTc4N2EzODNhNDMifQ=="/>
</p:tagLst>
</file>

<file path=ppt/theme/theme1.xml><?xml version="1.0" encoding="utf-8"?>
<a:theme xmlns:a="http://schemas.openxmlformats.org/drawingml/2006/main" name="1_BISTU_template_without_bg">
  <a:themeElements>
    <a:clrScheme name="bistu-jsjx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方正标宋">
      <a:majorFont>
        <a:latin typeface="方正小标宋简体"/>
        <a:ea typeface="方正小标宋简体"/>
        <a:cs typeface=""/>
      </a:majorFont>
      <a:minorFont>
        <a:latin typeface="方正小标宋简体"/>
        <a:ea typeface="方正小标宋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0000"/>
          </a:buClr>
          <a:buSzPct val="100000"/>
          <a:buFont typeface="Wingdings" panose="05000000000000000000" pitchFamily="2" charset="2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永中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0000"/>
          </a:buClr>
          <a:buSzPct val="100000"/>
          <a:buFont typeface="Wingdings" panose="05000000000000000000" pitchFamily="2" charset="2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永中宋体" pitchFamily="2" charset="-122"/>
          </a:defRPr>
        </a:defPPr>
      </a:lstStyle>
    </a:lnDef>
  </a:objectDefaults>
  <a:extraClrSchemeLst>
    <a:extraClrScheme>
      <a:clrScheme name="bistu-jsjx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istu-jsjx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ComputerSchool_BISTU</Template>
  <TotalTime>0</TotalTime>
  <Words>755</Words>
  <Application>WPS 演示</Application>
  <PresentationFormat>全屏显示(4:3)</PresentationFormat>
  <Paragraphs>118</Paragraphs>
  <Slides>6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永中宋体</vt:lpstr>
      <vt:lpstr>Verdana</vt:lpstr>
      <vt:lpstr>方正小标宋简体</vt:lpstr>
      <vt:lpstr>微软雅黑</vt:lpstr>
      <vt:lpstr>Arial Unicode MS</vt:lpstr>
      <vt:lpstr>Calibri</vt:lpstr>
      <vt:lpstr>1_BISTU_template_without_bg</vt:lpstr>
      <vt:lpstr>“计算机导论”课程简介</vt:lpstr>
      <vt:lpstr>课程简介</vt:lpstr>
      <vt:lpstr>学习方法</vt:lpstr>
      <vt:lpstr>教材与参考书</vt:lpstr>
      <vt:lpstr>课程安排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计算机导论</dc:title>
  <dc:creator>Ning Li</dc:creator>
  <cp:lastModifiedBy>李宁N.Li</cp:lastModifiedBy>
  <cp:revision>332</cp:revision>
  <dcterms:created xsi:type="dcterms:W3CDTF">2014-07-20T00:23:00Z</dcterms:created>
  <dcterms:modified xsi:type="dcterms:W3CDTF">2026-07-18T01:32:13Z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AECAF32D4678402088E9257D1EEE85DA_13</vt:lpwstr>
  </property>
  <property fmtid="{D5CDD505-2E9C-101B-9397-08002B2CF9AE}" pid="3" name="KSOProductBuildVer">
    <vt:lpwstr>2052-12.1.0.26895</vt:lpwstr>
  </property>
</Properties>
</file>